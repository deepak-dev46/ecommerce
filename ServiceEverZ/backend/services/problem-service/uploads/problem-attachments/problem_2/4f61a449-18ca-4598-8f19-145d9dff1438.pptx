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6" r:id="rId13"/>
    <p:sldId id="277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4F35A-4B72-63AD-D90D-B76994D9B6B2}" v="48" dt="2026-04-14T09:54:59.774"/>
    <p1510:client id="{6D45B6E7-A149-F1F1-F0FD-0472027130E4}" v="8" dt="2026-04-14T08:48:05.276"/>
    <p1510:client id="{881A842C-AE71-BEEE-5816-4D4C62B1A199}" v="834" dt="2026-04-14T09:26:14.126"/>
    <p1510:client id="{CDD4055F-8455-2E1C-E471-6E290B88CD52}" v="87" dt="2026-04-14T09:48:48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levantz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hyperlink" Target="https://www.linkedin.com/company/relevantz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__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2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5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6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___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10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13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14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____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18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21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22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_____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26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29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30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34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37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38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_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7840" cy="25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Google Shape;57;p7"/>
          <p:cNvSpPr/>
          <p:nvPr/>
        </p:nvSpPr>
        <p:spPr>
          <a:xfrm rot="10800000" flipH="1">
            <a:off x="457200" y="91584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42" name="Google Shape;59;p7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60;p7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" name="Google Shape;61;p7"/>
          <p:cNvGrpSpPr/>
          <p:nvPr/>
        </p:nvGrpSpPr>
        <p:grpSpPr>
          <a:xfrm>
            <a:off x="6506640" y="1440"/>
            <a:ext cx="2718000" cy="5018400"/>
            <a:chOff x="6506640" y="1440"/>
            <a:chExt cx="2718000" cy="5018400"/>
          </a:xfrm>
        </p:grpSpPr>
        <p:sp>
          <p:nvSpPr>
            <p:cNvPr id="45" name="Google Shape;62;p7"/>
            <p:cNvSpPr/>
            <p:nvPr/>
          </p:nvSpPr>
          <p:spPr>
            <a:xfrm rot="10800000">
              <a:off x="7689960" y="1440"/>
              <a:ext cx="1454040" cy="233568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  <p:sp>
          <p:nvSpPr>
            <p:cNvPr id="46" name="Google Shape;63;p7"/>
            <p:cNvSpPr/>
            <p:nvPr/>
          </p:nvSpPr>
          <p:spPr>
            <a:xfrm rot="16200000">
              <a:off x="5940720" y="1735920"/>
              <a:ext cx="384984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endParaRPr>
            </a:p>
          </p:txBody>
        </p:sp>
      </p:grp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13680" y="1606320"/>
            <a:ext cx="5072040" cy="136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9" name="Google Shape;8;p2"/>
          <p:cNvPicPr/>
          <p:nvPr/>
        </p:nvPicPr>
        <p:blipFill>
          <a:blip r:embed="rId2"/>
          <a:stretch/>
        </p:blipFill>
        <p:spPr>
          <a:xfrm>
            <a:off x="457200" y="495000"/>
            <a:ext cx="1773360" cy="4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0;p2"/>
          <p:cNvSpPr/>
          <p:nvPr/>
        </p:nvSpPr>
        <p:spPr>
          <a:xfrm>
            <a:off x="4289040" y="4549680"/>
            <a:ext cx="442692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" sz="8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Proxima Nova"/>
              </a:rPr>
              <a:t>© 2025 Relevantz Technology Services, Inc. All rights reserved.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Google Shape;11;p2"/>
          <p:cNvPicPr/>
          <p:nvPr/>
        </p:nvPicPr>
        <p:blipFill>
          <a:blip r:embed="rId3"/>
          <a:stretch/>
        </p:blipFill>
        <p:spPr>
          <a:xfrm>
            <a:off x="0" y="1440720"/>
            <a:ext cx="3182760" cy="370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ngle column text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6;p3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19;p3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457200" y="1293840"/>
            <a:ext cx="819684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Google Shape;33;p5"/>
          <p:cNvSpPr/>
          <p:nvPr/>
        </p:nvSpPr>
        <p:spPr>
          <a:xfrm>
            <a:off x="3781440" y="473184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Calibri"/>
                <a:ea typeface="Proxima Nova"/>
              </a:rPr>
              <a:t>For Internal Use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15920" cy="63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1"/>
          </p:nvPr>
        </p:nvSpPr>
        <p:spPr>
          <a:xfrm>
            <a:off x="8533800" y="4731840"/>
            <a:ext cx="462600" cy="238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04303C-8E1B-4363-8687-29B21CF1CE17}" type="slidenum">
              <a: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lumn text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5;p4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28;p4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33;p5"/>
          <p:cNvSpPr/>
          <p:nvPr/>
        </p:nvSpPr>
        <p:spPr>
          <a:xfrm>
            <a:off x="3781440" y="473184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Calibri"/>
                <a:ea typeface="Proxima Nova"/>
              </a:rPr>
              <a:t>For Internal Use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15920" cy="63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sldNum" idx="2"/>
          </p:nvPr>
        </p:nvSpPr>
        <p:spPr>
          <a:xfrm>
            <a:off x="8533800" y="4731840"/>
            <a:ext cx="462600" cy="238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BB3133-9B63-4DD9-AE94-F74B2C74F798}" type="slidenum">
              <a: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57200" y="1293840"/>
            <a:ext cx="401220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Google Shape;29;p5"/>
          <p:cNvSpPr/>
          <p:nvPr/>
        </p:nvSpPr>
        <p:spPr>
          <a:xfrm>
            <a:off x="4671360" y="959400"/>
            <a:ext cx="4021560" cy="27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1" u="none" strike="noStrike">
              <a:solidFill>
                <a:srgbClr val="000000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1360" y="1288800"/>
            <a:ext cx="401220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and imag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5027040" y="0"/>
            <a:ext cx="4115520" cy="514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68" name="Google Shape;35;p5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37;p5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93840"/>
            <a:ext cx="401220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4447800" cy="63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sldNum" idx="3"/>
          </p:nvPr>
        </p:nvSpPr>
        <p:spPr>
          <a:xfrm>
            <a:off x="8516160" y="4731840"/>
            <a:ext cx="462600" cy="238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DE6812-2829-40BA-AC48-1FBD095E5010}" type="slidenum">
              <a: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Google Shape;33;p5"/>
          <p:cNvSpPr/>
          <p:nvPr/>
        </p:nvSpPr>
        <p:spPr>
          <a:xfrm>
            <a:off x="3337920" y="473184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Calibri"/>
                <a:ea typeface="Proxima Nova"/>
              </a:rPr>
              <a:t>For Internal Use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ography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41;p6"/>
          <p:cNvSpPr/>
          <p:nvPr/>
        </p:nvSpPr>
        <p:spPr>
          <a:xfrm>
            <a:off x="896040" y="1428120"/>
            <a:ext cx="1436400" cy="143640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450360" y="2952000"/>
            <a:ext cx="2327760" cy="143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Google Shape;44;p6"/>
          <p:cNvSpPr/>
          <p:nvPr/>
        </p:nvSpPr>
        <p:spPr>
          <a:xfrm>
            <a:off x="3859200" y="1428120"/>
            <a:ext cx="1436400" cy="143640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413880" y="2952000"/>
            <a:ext cx="2327760" cy="143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8" name="Google Shape;47;p6"/>
          <p:cNvSpPr/>
          <p:nvPr/>
        </p:nvSpPr>
        <p:spPr>
          <a:xfrm>
            <a:off x="6793920" y="1428120"/>
            <a:ext cx="1436400" cy="143640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348240" y="2952000"/>
            <a:ext cx="2327760" cy="143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80" name="Google Shape;50;p6"/>
          <p:cNvPicPr/>
          <p:nvPr/>
        </p:nvPicPr>
        <p:blipFill>
          <a:blip r:embed="rId2"/>
          <a:stretch/>
        </p:blipFill>
        <p:spPr>
          <a:xfrm>
            <a:off x="664920" y="4769640"/>
            <a:ext cx="857160" cy="1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53;p6"/>
          <p:cNvPicPr/>
          <p:nvPr/>
        </p:nvPicPr>
        <p:blipFill>
          <a:blip r:embed="rId3"/>
          <a:stretch/>
        </p:blipFill>
        <p:spPr>
          <a:xfrm>
            <a:off x="0" y="4689360"/>
            <a:ext cx="61308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33;p5"/>
          <p:cNvSpPr/>
          <p:nvPr/>
        </p:nvSpPr>
        <p:spPr>
          <a:xfrm>
            <a:off x="3781440" y="473184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Calibri"/>
                <a:ea typeface="Proxima Nova"/>
              </a:rPr>
              <a:t>For Internal Use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4"/>
          </p:nvPr>
        </p:nvSpPr>
        <p:spPr>
          <a:xfrm>
            <a:off x="8516160" y="4731840"/>
            <a:ext cx="462600" cy="238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24CEBC-86FF-4D41-BBFA-DA40ABE5CFF4}" type="slidenum">
              <a:rPr lang="en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15920" cy="63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953640" y="1485720"/>
            <a:ext cx="1321200" cy="132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3916800" y="1485720"/>
            <a:ext cx="1321200" cy="132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8"/>
          <p:cNvSpPr>
            <a:spLocks noGrp="1"/>
          </p:cNvSpPr>
          <p:nvPr>
            <p:ph type="body"/>
          </p:nvPr>
        </p:nvSpPr>
        <p:spPr>
          <a:xfrm>
            <a:off x="6851520" y="1485720"/>
            <a:ext cx="1321200" cy="132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65;p8"/>
          <p:cNvSpPr/>
          <p:nvPr/>
        </p:nvSpPr>
        <p:spPr>
          <a:xfrm>
            <a:off x="2172600" y="1456920"/>
            <a:ext cx="5260680" cy="79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44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Proxima Nova"/>
              </a:rPr>
              <a:t>THANK YOU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Google Shape;67;p8"/>
          <p:cNvPicPr/>
          <p:nvPr/>
        </p:nvPicPr>
        <p:blipFill>
          <a:blip r:embed="rId2"/>
          <a:srcRect l="75996" b="53085"/>
          <a:stretch/>
        </p:blipFill>
        <p:spPr>
          <a:xfrm>
            <a:off x="0" y="3412080"/>
            <a:ext cx="2047680" cy="172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68;p8"/>
          <p:cNvSpPr/>
          <p:nvPr/>
        </p:nvSpPr>
        <p:spPr>
          <a:xfrm>
            <a:off x="2166120" y="3363480"/>
            <a:ext cx="648756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Proxima Nova Semibold"/>
              </a:rPr>
              <a:t>About Relevantz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lang="en-US" sz="10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Arial"/>
                <a:hlinkClick r:id="rId3"/>
              </a:rPr>
              <a:t>www.relevantz.com</a:t>
            </a:r>
            <a:r>
              <a:rPr lang="en-US" sz="10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or </a:t>
            </a:r>
            <a:r>
              <a:rPr lang="en-US" sz="10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Arial"/>
                <a:hlinkClick r:id="rId4"/>
              </a:rPr>
              <a:t>@relevantztech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en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roxima Nova"/>
              </a:rPr>
              <a:t>© 2025 Relevantz Technology Services, Inc. All rights reserved.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69;p8"/>
          <p:cNvSpPr/>
          <p:nvPr/>
        </p:nvSpPr>
        <p:spPr>
          <a:xfrm>
            <a:off x="2166120" y="3057480"/>
            <a:ext cx="6490800" cy="2664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Calibri"/>
              <a:ea typeface="Proxima Nova"/>
            </a:endParaRPr>
          </a:p>
        </p:txBody>
      </p:sp>
      <p:pic>
        <p:nvPicPr>
          <p:cNvPr id="92" name="Google Shape;70;p8"/>
          <p:cNvPicPr/>
          <p:nvPr/>
        </p:nvPicPr>
        <p:blipFill>
          <a:blip r:embed="rId5"/>
          <a:stretch/>
        </p:blipFill>
        <p:spPr>
          <a:xfrm>
            <a:off x="6869520" y="423000"/>
            <a:ext cx="1784160" cy="414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3307680" y="2359080"/>
            <a:ext cx="5705640" cy="209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32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EMPLOYEE ENGAGEMENT PLATFORM- EEPZ 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rcRect l="2431"/>
          <a:stretch/>
        </p:blipFill>
        <p:spPr>
          <a:xfrm>
            <a:off x="3894840" y="870480"/>
            <a:ext cx="3231000" cy="1469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86;p11"/>
          <p:cNvSpPr/>
          <p:nvPr/>
        </p:nvSpPr>
        <p:spPr>
          <a:xfrm>
            <a:off x="461880" y="388080"/>
            <a:ext cx="8223480" cy="49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Content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99320" y="1136880"/>
            <a:ext cx="385416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Project Overview </a:t>
            </a:r>
            <a:br>
              <a:rPr sz="1400" dirty="0"/>
            </a:b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Modules Overview</a:t>
            </a:r>
            <a:br>
              <a:rPr sz="1400" dirty="0"/>
            </a:br>
            <a:br>
              <a:rPr sz="1400" dirty="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Roles Overview</a:t>
            </a:r>
            <a:br>
              <a:rPr sz="1400" dirty="0"/>
            </a:br>
            <a:br>
              <a:rPr sz="1400" dirty="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Tools Implemented</a:t>
            </a:r>
            <a:br>
              <a:rPr sz="1400" dirty="0"/>
            </a:br>
            <a:br>
              <a:rPr sz="1400" dirty="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Functionalities</a:t>
            </a:r>
            <a:br>
              <a:rPr sz="1400" dirty="0"/>
            </a:br>
            <a:br>
              <a:rPr sz="1400" dirty="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Conclusion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42720" y="397080"/>
            <a:ext cx="476784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42800" y="1360800"/>
            <a:ext cx="7239600" cy="22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Employee Engagement Platform is designed to streamline organisational processes such as goal management, employee recognition, appraisal process, performance evaluation, and internal career opportunities within a single digital ecosystem. </a:t>
            </a: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It enables employees, managers, HR, and leadership teams to collaborate efficiently, track performance metrics, and ensure transparency in appraisals, rewards, and promotions. </a:t>
            </a: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42720" y="397080"/>
            <a:ext cx="476784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512280" y="1309680"/>
            <a:ext cx="6807960" cy="32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The primary objectives of this project includes: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Enabling secure user authentication and role-based access management. 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Allowing HR and leadership to manage organisational policies, performance tracking, and goal alignment. 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Providing employees with access to internal opportunities, self-nominations, and career growth pathways. 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Ensuring employees to have a transparent and smooth appraisal process which  follows   auditable workflow. 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1040" y="441720"/>
            <a:ext cx="476784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Modules Overview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04640" y="1136160"/>
            <a:ext cx="6795360" cy="33071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Employee Engagement platform EEPZ has 10 Modules: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Authentication and User Management 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Project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Goal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Performance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HR Operations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089240" y="1194120"/>
            <a:ext cx="5079960" cy="27941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Internal Opportunity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Learning and Development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Meetings and MOM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Feedback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SLA Management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11040" y="441720"/>
            <a:ext cx="476784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Roles Overview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0600" y="1136160"/>
            <a:ext cx="5995080" cy="4302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Employee Engagement platform EEPZ has 6 Roles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Admin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Employee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Manager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Department Head 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HR 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 marL="215900" indent="-2159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effectLst/>
                <a:uFillTx/>
                <a:latin typeface="Arial"/>
              </a:rPr>
              <a:t>Leadership</a:t>
            </a:r>
            <a:endParaRPr lang="en-IN" sz="1400" b="0" u="none" strike="noStrike">
              <a:effectLst/>
              <a:uFillTx/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/>
          <p:cNvSpPr txBox="1"/>
          <p:nvPr/>
        </p:nvSpPr>
        <p:spPr>
          <a:xfrm>
            <a:off x="540000" y="277174"/>
            <a:ext cx="4681173" cy="52176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" sz="2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Tools Implemented</a:t>
            </a:r>
            <a:r>
              <a:rPr lang="en" sz="2800" b="1">
                <a:solidFill>
                  <a:schemeClr val="accent1"/>
                </a:solidFill>
                <a:latin typeface="Calibri"/>
                <a:ea typeface="Calibri"/>
              </a:rPr>
              <a:t>(Backend)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8D796-A08A-AD89-CAF1-971F26A9CDE6}"/>
              </a:ext>
            </a:extLst>
          </p:cNvPr>
          <p:cNvSpPr txBox="1"/>
          <p:nvPr/>
        </p:nvSpPr>
        <p:spPr>
          <a:xfrm>
            <a:off x="538135" y="706527"/>
            <a:ext cx="6627742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dirty="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.NET 8</a:t>
            </a:r>
            <a:r>
              <a:rPr lang="en-IN" sz="1400">
                <a:latin typeface="Arial"/>
                <a:ea typeface="+mn-lt"/>
                <a:cs typeface="Arial"/>
              </a:rPr>
              <a:t> – Backend framework for building APIs and services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Fast API</a:t>
            </a:r>
            <a:r>
              <a:rPr lang="en-IN" sz="1400" dirty="0">
                <a:latin typeface="Arial"/>
                <a:ea typeface="+mn-lt"/>
                <a:cs typeface="Arial"/>
              </a:rPr>
              <a:t> – Python-based backend framework for APIs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Python</a:t>
            </a:r>
            <a:r>
              <a:rPr lang="en-IN" sz="1400">
                <a:latin typeface="Arial"/>
                <a:ea typeface="+mn-lt"/>
                <a:cs typeface="Arial"/>
              </a:rPr>
              <a:t> – General-purpose programming language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Drools</a:t>
            </a:r>
            <a:r>
              <a:rPr lang="en-IN" sz="1400">
                <a:latin typeface="Arial"/>
                <a:ea typeface="+mn-lt"/>
                <a:cs typeface="Arial"/>
              </a:rPr>
              <a:t> – Business rules management system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 dirty="0">
                <a:latin typeface="Arial"/>
                <a:ea typeface="+mn-lt"/>
                <a:cs typeface="Arial"/>
              </a:rPr>
              <a:t> </a:t>
            </a:r>
            <a:r>
              <a:rPr lang="en-IN" sz="1400" b="1" err="1">
                <a:latin typeface="Arial"/>
                <a:ea typeface="+mn-lt"/>
                <a:cs typeface="Arial"/>
              </a:rPr>
              <a:t>OptaPlanner</a:t>
            </a:r>
            <a:r>
              <a:rPr lang="en-IN" sz="1400" dirty="0">
                <a:latin typeface="Arial"/>
                <a:ea typeface="+mn-lt"/>
                <a:cs typeface="Arial"/>
              </a:rPr>
              <a:t> – Constraint solver for optimization problems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JBPM</a:t>
            </a:r>
            <a:r>
              <a:rPr lang="en-IN" sz="1400" dirty="0">
                <a:latin typeface="Arial"/>
                <a:ea typeface="+mn-lt"/>
                <a:cs typeface="Arial"/>
              </a:rPr>
              <a:t> – Workflow and business process management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Kafka</a:t>
            </a:r>
            <a:r>
              <a:rPr lang="en-IN" sz="1400">
                <a:latin typeface="Arial"/>
                <a:ea typeface="+mn-lt"/>
                <a:cs typeface="Arial"/>
              </a:rPr>
              <a:t> – Event streaming platform</a:t>
            </a:r>
            <a:br>
              <a:rPr lang="en-IN" sz="140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Nginx – </a:t>
            </a:r>
            <a:r>
              <a:rPr lang="en-IN" sz="1400">
                <a:latin typeface="Arial"/>
                <a:ea typeface="+mn-lt"/>
                <a:cs typeface="Arial"/>
              </a:rPr>
              <a:t>Load Balancing.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Docker</a:t>
            </a:r>
            <a:r>
              <a:rPr lang="en-IN" sz="1400">
                <a:latin typeface="Arial"/>
                <a:ea typeface="+mn-lt"/>
                <a:cs typeface="Arial"/>
              </a:rPr>
              <a:t> – Containerization platform for deployment</a:t>
            </a:r>
            <a:br>
              <a:rPr lang="en-IN" sz="1400">
                <a:latin typeface="Arial"/>
                <a:ea typeface="+mn-lt"/>
                <a:cs typeface="Arial"/>
              </a:rPr>
            </a:br>
            <a:endParaRPr lang="en-IN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IN" sz="1400" dirty="0">
              <a:latin typeface="Arial"/>
              <a:cs typeface="Arial"/>
            </a:endParaRPr>
          </a:p>
          <a:p>
            <a:endParaRPr lang="en-IN" sz="1400" dirty="0">
              <a:latin typeface="Arial"/>
              <a:cs typeface="Arial"/>
            </a:endParaRPr>
          </a:p>
          <a:p>
            <a:pPr marL="215900" indent="-215900">
              <a:buFont typeface="Arial,Sans-Serif"/>
              <a:buChar char="•"/>
            </a:pPr>
            <a:endParaRPr lang="en-IN" sz="1400" dirty="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0A05-5210-33FE-E08D-6C77D697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D02A3424-F626-4A72-5825-56B98ABCFC42}"/>
              </a:ext>
            </a:extLst>
          </p:cNvPr>
          <p:cNvSpPr txBox="1"/>
          <p:nvPr/>
        </p:nvSpPr>
        <p:spPr>
          <a:xfrm>
            <a:off x="540000" y="277174"/>
            <a:ext cx="4681173" cy="52176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" sz="2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Tools Implemented</a:t>
            </a:r>
            <a:r>
              <a:rPr lang="en" sz="2800" b="1">
                <a:solidFill>
                  <a:schemeClr val="accent1"/>
                </a:solidFill>
                <a:latin typeface="Calibri"/>
                <a:ea typeface="Calibri"/>
              </a:rPr>
              <a:t>(Frontend)</a:t>
            </a:r>
            <a:endParaRPr lang="en-IN" sz="2800" b="0" u="none" strike="noStrike">
              <a:solidFill>
                <a:schemeClr val="accent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AB701-7C9F-BFBB-DE38-86A4B4ED244F}"/>
              </a:ext>
            </a:extLst>
          </p:cNvPr>
          <p:cNvSpPr txBox="1"/>
          <p:nvPr/>
        </p:nvSpPr>
        <p:spPr>
          <a:xfrm>
            <a:off x="538135" y="989476"/>
            <a:ext cx="662774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sz="1400" dirty="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React JS</a:t>
            </a:r>
            <a:r>
              <a:rPr lang="en-IN" sz="1400">
                <a:latin typeface="Arial"/>
                <a:ea typeface="+mn-lt"/>
                <a:cs typeface="Arial"/>
              </a:rPr>
              <a:t> – UI framework for building web apps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Bootstrap</a:t>
            </a:r>
            <a:r>
              <a:rPr lang="en-IN" sz="1400">
                <a:latin typeface="Arial"/>
                <a:ea typeface="+mn-lt"/>
                <a:cs typeface="Arial"/>
              </a:rPr>
              <a:t> – CSS framework for styling and layouts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ea typeface="Calibri" panose="020F0502020204030204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Sonner</a:t>
            </a:r>
            <a:r>
              <a:rPr lang="en-IN" sz="1400">
                <a:latin typeface="Arial"/>
                <a:ea typeface="+mn-lt"/>
                <a:cs typeface="Arial"/>
              </a:rPr>
              <a:t> – Notification/toast library for React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ea typeface="Calibri" panose="020F0502020204030204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Recharts</a:t>
            </a:r>
            <a:r>
              <a:rPr lang="en-IN" sz="1400">
                <a:latin typeface="Arial"/>
                <a:ea typeface="+mn-lt"/>
                <a:cs typeface="Arial"/>
              </a:rPr>
              <a:t> – Charting library for React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 dirty="0">
              <a:latin typeface="Arial"/>
              <a:ea typeface="Calibri" panose="020F0502020204030204"/>
              <a:cs typeface="Arial"/>
            </a:endParaRPr>
          </a:p>
          <a:p>
            <a:pPr>
              <a:buFont typeface="Arial"/>
              <a:buChar char="•"/>
            </a:pPr>
            <a:r>
              <a:rPr lang="en-IN" sz="1400" b="1">
                <a:latin typeface="Arial"/>
                <a:ea typeface="+mn-lt"/>
                <a:cs typeface="Arial"/>
              </a:rPr>
              <a:t> lucide-react</a:t>
            </a:r>
            <a:r>
              <a:rPr lang="en-IN" sz="1400" dirty="0">
                <a:latin typeface="Arial"/>
                <a:ea typeface="+mn-lt"/>
                <a:cs typeface="Arial"/>
              </a:rPr>
              <a:t> – Icon library for React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>
              <a:latin typeface="Arial"/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IN" sz="1400" dirty="0">
              <a:latin typeface="Arial"/>
              <a:cs typeface="Arial"/>
            </a:endParaRPr>
          </a:p>
          <a:p>
            <a:endParaRPr lang="en-IN" sz="1400" dirty="0">
              <a:latin typeface="Arial"/>
              <a:cs typeface="Arial"/>
            </a:endParaRPr>
          </a:p>
          <a:p>
            <a:pPr marL="215900" indent="-215900">
              <a:buFont typeface="Arial,Sans-Serif"/>
              <a:buChar char="•"/>
            </a:pPr>
            <a:endParaRPr lang="en-IN" sz="1400" dirty="0">
              <a:latin typeface="Arial"/>
              <a:cs typeface="Arial"/>
            </a:endParaRPr>
          </a:p>
          <a:p>
            <a:pPr algn="l"/>
            <a:endParaRPr lang="en-US" sz="1400" dirty="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832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7B39-2370-D3CD-FDF6-E0C7D18C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9662461F-9F64-C2D1-E340-3A846F384FD8}"/>
              </a:ext>
            </a:extLst>
          </p:cNvPr>
          <p:cNvSpPr txBox="1"/>
          <p:nvPr/>
        </p:nvSpPr>
        <p:spPr>
          <a:xfrm>
            <a:off x="540000" y="277174"/>
            <a:ext cx="4681173" cy="52176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" sz="28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Tools Implemented</a:t>
            </a:r>
            <a:endParaRPr lang="en-IN" sz="2800" b="0" u="none" strike="noStrike">
              <a:solidFill>
                <a:schemeClr val="accent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F721B-E6F9-B28D-A020-036B0542676C}"/>
              </a:ext>
            </a:extLst>
          </p:cNvPr>
          <p:cNvSpPr txBox="1"/>
          <p:nvPr/>
        </p:nvSpPr>
        <p:spPr>
          <a:xfrm>
            <a:off x="538135" y="1121998"/>
            <a:ext cx="6039677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b="1">
                <a:latin typeface="Arial"/>
                <a:cs typeface="Arial"/>
              </a:rPr>
              <a:t>Databases:</a:t>
            </a:r>
            <a:br>
              <a:rPr lang="en-IN" b="1" dirty="0">
                <a:latin typeface="Arial"/>
                <a:cs typeface="Arial"/>
              </a:rPr>
            </a:br>
            <a:endParaRPr lang="en-US" b="1">
              <a:latin typeface="Arial"/>
              <a:cs typeface="Arial"/>
            </a:endParaRPr>
          </a:p>
          <a:p>
            <a:r>
              <a:rPr lang="en-IN" sz="1400" b="1">
                <a:latin typeface="Arial"/>
                <a:ea typeface="+mn-lt"/>
                <a:cs typeface="Arial"/>
              </a:rPr>
              <a:t>    MySQL</a:t>
            </a:r>
            <a:r>
              <a:rPr lang="en-IN" sz="1400" dirty="0">
                <a:latin typeface="Arial"/>
                <a:ea typeface="+mn-lt"/>
                <a:cs typeface="Arial"/>
              </a:rPr>
              <a:t> – Relational database</a:t>
            </a:r>
            <a:endParaRPr lang="en-IN" dirty="0">
              <a:latin typeface="Arial"/>
              <a:ea typeface="Calibri" panose="020F0502020204030204"/>
              <a:cs typeface="Arial"/>
            </a:endParaRPr>
          </a:p>
          <a:p>
            <a:pPr>
              <a:spcBef>
                <a:spcPct val="0"/>
              </a:spcBef>
            </a:pPr>
            <a:r>
              <a:rPr lang="en-IN" sz="1400" b="1">
                <a:latin typeface="Arial"/>
                <a:ea typeface="+mn-lt"/>
                <a:cs typeface="Arial"/>
              </a:rPr>
              <a:t>    MongoDB</a:t>
            </a:r>
            <a:r>
              <a:rPr lang="en-IN" sz="1400" dirty="0">
                <a:latin typeface="Arial"/>
                <a:ea typeface="+mn-lt"/>
                <a:cs typeface="Arial"/>
              </a:rPr>
              <a:t> – NoSQL document database</a:t>
            </a:r>
            <a:br>
              <a:rPr lang="en-IN" sz="1400" dirty="0">
                <a:latin typeface="Arial"/>
                <a:ea typeface="+mn-lt"/>
                <a:cs typeface="Arial"/>
              </a:rPr>
            </a:br>
            <a:br>
              <a:rPr lang="en-IN" sz="1400" dirty="0">
                <a:latin typeface="Arial"/>
                <a:ea typeface="+mn-lt"/>
                <a:cs typeface="Arial"/>
              </a:rPr>
            </a:br>
            <a:endParaRPr lang="en-IN" sz="1400" dirty="0">
              <a:latin typeface="Arial"/>
              <a:ea typeface="+mn-lt"/>
              <a:cs typeface="Arial"/>
            </a:endParaRPr>
          </a:p>
          <a:p>
            <a:endParaRPr lang="en-IN" sz="14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IN" sz="1400" dirty="0">
              <a:latin typeface="Arial"/>
              <a:ea typeface="+mn-lt"/>
              <a:cs typeface="Arial"/>
            </a:endParaRPr>
          </a:p>
          <a:p>
            <a:pPr algn="l"/>
            <a:endParaRPr lang="en-IN" sz="1400" dirty="0">
              <a:latin typeface="Arial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5448F-0FD9-DCE1-F4C6-1A0F4CFCF069}"/>
              </a:ext>
            </a:extLst>
          </p:cNvPr>
          <p:cNvSpPr txBox="1"/>
          <p:nvPr/>
        </p:nvSpPr>
        <p:spPr>
          <a:xfrm>
            <a:off x="538201" y="2365988"/>
            <a:ext cx="6271591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b="1" dirty="0">
                <a:latin typeface="Arial"/>
                <a:cs typeface="Arial"/>
              </a:rPr>
              <a:t>Logging:</a:t>
            </a:r>
            <a:br>
              <a:rPr lang="en-IN" b="1" dirty="0">
                <a:latin typeface="Arial"/>
                <a:cs typeface="Arial"/>
              </a:rPr>
            </a:br>
            <a:br>
              <a:rPr lang="en-IN" b="1" dirty="0">
                <a:latin typeface="Arial"/>
                <a:cs typeface="Arial"/>
              </a:rPr>
            </a:br>
            <a:r>
              <a:rPr lang="en-IN" sz="1400" b="1" dirty="0" err="1">
                <a:latin typeface="Arial"/>
                <a:cs typeface="Arial"/>
              </a:rPr>
              <a:t>Serilog</a:t>
            </a:r>
            <a:r>
              <a:rPr lang="en-IN" sz="1400" b="1" dirty="0">
                <a:latin typeface="Arial"/>
                <a:cs typeface="Arial"/>
              </a:rPr>
              <a:t> </a:t>
            </a:r>
            <a:r>
              <a:rPr lang="en-IN" sz="1400" dirty="0">
                <a:latin typeface="Arial"/>
                <a:cs typeface="Arial"/>
              </a:rPr>
              <a:t>– Structured logging for .NET applications</a:t>
            </a:r>
            <a:br>
              <a:rPr lang="en-IN" sz="1400" dirty="0">
                <a:latin typeface="Arial"/>
                <a:cs typeface="Arial"/>
              </a:rPr>
            </a:br>
            <a:br>
              <a:rPr lang="en-IN" sz="1400">
                <a:latin typeface="Arial"/>
                <a:cs typeface="Arial"/>
              </a:rPr>
            </a:br>
            <a:r>
              <a:rPr lang="en-IN" sz="1400" b="1" dirty="0">
                <a:latin typeface="Arial"/>
                <a:cs typeface="Arial"/>
              </a:rPr>
              <a:t>Kafka Logging</a:t>
            </a:r>
            <a:r>
              <a:rPr lang="en-IN" sz="1400" dirty="0">
                <a:latin typeface="Arial"/>
                <a:cs typeface="Arial"/>
              </a:rPr>
              <a:t> – Distributed log streaming; captures, stores, and processes logs/events in real time across systems.</a:t>
            </a:r>
            <a:br>
              <a:rPr lang="en-IN" sz="1400" dirty="0">
                <a:latin typeface="Arial"/>
                <a:cs typeface="Arial"/>
              </a:rPr>
            </a:br>
            <a:endParaRPr lang="en-US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059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Authentication &amp; User Management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7880" y="1261440"/>
            <a:ext cx="6522840" cy="3722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Secure Login: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Two-Factor Authentication for Admin, role-based access</a:t>
            </a:r>
            <a:endParaRPr lang="en-US"/>
          </a:p>
          <a:p>
            <a:pPr marL="215900" indent="-2159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 dirty="0">
                <a:solidFill>
                  <a:srgbClr val="27235C"/>
                </a:solidFill>
                <a:effectLst/>
                <a:uFillTx/>
                <a:latin typeface="Arial"/>
              </a:rPr>
              <a:t>User &amp; Role Management: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Create, edit, delete users</a:t>
            </a:r>
            <a:r>
              <a:rPr lang="en-IN" sz="1400" dirty="0">
                <a:solidFill>
                  <a:srgbClr val="000000"/>
                </a:solidFill>
                <a:latin typeface="Arial"/>
              </a:rPr>
              <a:t> and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assign/update roles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 dirty="0">
                <a:solidFill>
                  <a:srgbClr val="27235C"/>
                </a:solidFill>
                <a:effectLst/>
                <a:uFillTx/>
                <a:latin typeface="Arial"/>
              </a:rPr>
              <a:t>Department Management: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Arial"/>
              </a:rPr>
              <a:t>Create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edit</a:t>
            </a:r>
            <a:r>
              <a:rPr lang="en-IN" sz="1400" dirty="0">
                <a:solidFill>
                  <a:srgbClr val="000000"/>
                </a:solidFill>
                <a:latin typeface="Arial"/>
              </a:rPr>
              <a:t>, 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delete </a:t>
            </a:r>
            <a:r>
              <a:rPr lang="en-IN" sz="1400" dirty="0">
                <a:solidFill>
                  <a:srgbClr val="000000"/>
                </a:solidFill>
                <a:latin typeface="Arial"/>
              </a:rPr>
              <a:t>departments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and organise company structure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Bulk Operations: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Import/export users via Excel, download template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Profile &amp; Password Control: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Reset/change password, update personal info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Dashboard: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Role-based personalised view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77000" y="41256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Project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33240" y="1375920"/>
            <a:ext cx="6522840" cy="183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Project Setup: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 projects, assign reporting managers(L1, L2 and Resource Owner)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Project Maintenance: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Edit project details, update reporting hierarchy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Employee Mapping: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Map/unmap employees to projects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32280" y="41256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Goal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29360" y="1095885"/>
            <a:ext cx="6838852" cy="38714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15900" indent="-2159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dirty="0">
                <a:solidFill>
                  <a:srgbClr val="27235C"/>
                </a:solidFill>
                <a:latin typeface="Arial"/>
              </a:rPr>
              <a:t>Self Goals</a:t>
            </a:r>
            <a:r>
              <a:rPr lang="en-IN" sz="1400" b="1" u="none" strike="noStrike" dirty="0">
                <a:solidFill>
                  <a:srgbClr val="27235C"/>
                </a:solidFill>
                <a:effectLst/>
                <a:uFillTx/>
                <a:latin typeface="Arial"/>
              </a:rPr>
              <a:t>: 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Employee, Manager, Dept Head, Leadership can create their own role-based goals.</a:t>
            </a:r>
            <a:endParaRPr lang="en-US" dirty="0"/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Team Goals: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Manager &amp; Dept Head create and assign team goals with deadlines.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 dirty="0">
                <a:solidFill>
                  <a:srgbClr val="27235C"/>
                </a:solidFill>
                <a:effectLst/>
                <a:uFillTx/>
                <a:latin typeface="Arial"/>
              </a:rPr>
              <a:t>Organizational Goals: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Leadership creates company-wide objectives.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 dirty="0">
                <a:solidFill>
                  <a:srgbClr val="27235C"/>
                </a:solidFill>
                <a:effectLst/>
                <a:uFillTx/>
                <a:latin typeface="Arial"/>
              </a:rPr>
              <a:t>Goal Tracking: </a:t>
            </a: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Submit proof for goal completion (Employee, Manager, Dept Head).Approve/reject completion acknowledgments (Manager, Dept Head, Leadership).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15900" indent="-2159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Reopen Requests: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Employees request reopening overdue goals. Managers, Dept Heads, Leadership approve and set new deadlines.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54960" y="4050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Performance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96080" y="1330560"/>
            <a:ext cx="7153200" cy="29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Appraisal Form Creation: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HR defines competencies, descriptions, and rating scales.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Appraisal Campaigns: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HR initiates campaigns, selects eligible employees, and sends forms.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Lifecycle Tracking: 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 status tracking for every stage (Sent → In-progress → Manager Review → Dept. Head Approval → Employee Acknowledgment).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Recognition &amp; Rewards: 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HR creates recognition parameters, approves/rejects manager nominations, and publishes top performers.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54960" y="4050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Performance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282960" y="1261800"/>
            <a:ext cx="7358760" cy="296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Employee Flow: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Receive appraisal form → Submit self-assessment → View manager comments, ratings, and rewards → Acknowledge final appraisal. View recognitions.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  <a:ea typeface="Microsoft YaHei"/>
              </a:rPr>
              <a:t>Manager Flow: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L1 Manager: Review employee submissions, add ratings/comments, submit to L2, rework if rejected. Nominate/View employee recognitions.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  <a:ea typeface="Microsoft YaHei"/>
              </a:rPr>
              <a:t>L2 Manager: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 L1 ratings, add independent ratings, approve or reject, forward to Dept. Head. Nominate/View employee recognitions.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  <a:ea typeface="Microsoft YaHei"/>
              </a:rPr>
              <a:t>Department Head: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 complete appraisal (Employee + L1 + L2 ratings), approve final ratings, enable employee acknowledgment. View employee recognitions.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77000" y="41256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HR Operations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587880" y="1261440"/>
            <a:ext cx="6522840" cy="324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Policy Management: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Create/upload docs, publish/unpublish, track policy status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Cost Mapping: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Department budgets, ₹ currency formatting, resource allocation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Career Progression: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View Promotions and Nominations 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Compliance &amp; Goals: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Track adherence, encourage goal setting and suggest reminders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Recognition &amp; Fairness: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Audit nominations, view responsibility distribution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60539" y="286853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>
                <a:solidFill>
                  <a:schemeClr val="accent1"/>
                </a:solidFill>
                <a:latin typeface="Calibri"/>
                <a:ea typeface="Calibri"/>
              </a:rPr>
              <a:t>Internal</a:t>
            </a:r>
            <a:r>
              <a:rPr lang="en" b="1">
                <a:latin typeface="Calibri"/>
                <a:ea typeface="Calibri"/>
                <a:cs typeface="Calibri"/>
              </a:rPr>
              <a:t> </a:t>
            </a:r>
            <a:r>
              <a:rPr lang="en" sz="3200" b="1">
                <a:solidFill>
                  <a:schemeClr val="accent1"/>
                </a:solidFill>
                <a:latin typeface="Calibri"/>
                <a:ea typeface="Calibri"/>
              </a:rPr>
              <a:t>Opportunities</a:t>
            </a:r>
            <a:endParaRPr lang="en-IN" sz="3200" b="1">
              <a:solidFill>
                <a:schemeClr val="accent1"/>
              </a:solidFill>
              <a:latin typeface="Calibri"/>
              <a:ea typeface="Calibri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618480" y="1287360"/>
            <a:ext cx="673488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Opportunity Posting: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HR posts internal openings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Nominations: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Employees self-nominate, managers nominate themself and team members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Opportunity Graph: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Visualise career paths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Review &amp; Approval: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Department head approves and HR ensures merit-based and fair process</a:t>
            </a:r>
            <a:br>
              <a:rPr sz="1400"/>
            </a:b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Benefits: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Career planning, transparent growth opportunities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Learning and Development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93715" y="1002168"/>
            <a:ext cx="7359480" cy="3753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27235C"/>
                </a:solidFill>
                <a:latin typeface="Arial"/>
              </a:rPr>
              <a:t>Skill Ratings:</a:t>
            </a:r>
            <a:r>
              <a:rPr lang="en-US" sz="1400">
                <a:latin typeface="Arial"/>
                <a:ea typeface="+mn-lt"/>
                <a:cs typeface="Arial"/>
              </a:rPr>
              <a:t> Manager records and updates employee skill ratings.</a:t>
            </a:r>
            <a:endParaRPr lang="en-US" sz="14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solidFill>
                  <a:srgbClr val="27235C"/>
                </a:solidFill>
                <a:latin typeface="Arial"/>
              </a:rPr>
              <a:t>Skill Gap Identification:</a:t>
            </a:r>
            <a:r>
              <a:rPr lang="en-US" sz="1400" dirty="0">
                <a:latin typeface="Arial"/>
                <a:ea typeface="+mn-lt"/>
                <a:cs typeface="Arial"/>
              </a:rPr>
              <a:t> Manager identifies employees with ratings below 5 and assign SME</a:t>
            </a:r>
            <a:endParaRPr lang="en-US" sz="14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27235C"/>
                </a:solidFill>
                <a:latin typeface="Arial"/>
              </a:rPr>
              <a:t>SME Assignment:</a:t>
            </a:r>
            <a:r>
              <a:rPr lang="en-US" sz="1400">
                <a:latin typeface="Arial"/>
                <a:ea typeface="+mn-lt"/>
                <a:cs typeface="Arial"/>
              </a:rPr>
              <a:t> Manager requests SME mentoring for employees with ratings below 5 SME approves/rejects assignment requests.</a:t>
            </a:r>
            <a:endParaRPr lang="en-US" sz="14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solidFill>
                  <a:srgbClr val="27235C"/>
                </a:solidFill>
                <a:latin typeface="Arial"/>
              </a:rPr>
              <a:t>SME Registration:</a:t>
            </a:r>
            <a:r>
              <a:rPr lang="en-US" sz="1400" dirty="0">
                <a:latin typeface="Arial"/>
                <a:ea typeface="+mn-lt"/>
                <a:cs typeface="Arial"/>
              </a:rPr>
              <a:t> Employee requests SME role for skills rated 8 and </a:t>
            </a:r>
            <a:r>
              <a:rPr lang="en-US" sz="1400">
                <a:latin typeface="Arial"/>
                <a:ea typeface="+mn-lt"/>
                <a:cs typeface="Arial"/>
              </a:rPr>
              <a:t>above. Manager</a:t>
            </a:r>
            <a:r>
              <a:rPr lang="en-US" sz="1400" dirty="0">
                <a:latin typeface="Arial"/>
                <a:ea typeface="+mn-lt"/>
                <a:cs typeface="Arial"/>
              </a:rPr>
              <a:t> approves/rejects SME registration.</a:t>
            </a:r>
            <a:endParaRPr lang="en-US" sz="1400">
              <a:latin typeface="Arial"/>
              <a:ea typeface="Calibri" panose="020F0502020204030204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ea typeface="Calibri" panose="020F0502020204030204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solidFill>
                  <a:srgbClr val="27235C"/>
                </a:solidFill>
                <a:latin typeface="Arial"/>
              </a:rPr>
              <a:t>Progress Tracking:</a:t>
            </a:r>
            <a:r>
              <a:rPr lang="en-US" sz="1400" b="1" dirty="0">
                <a:latin typeface="Arial"/>
                <a:ea typeface="+mn-lt"/>
                <a:cs typeface="Arial"/>
              </a:rPr>
              <a:t> </a:t>
            </a:r>
            <a:r>
              <a:rPr lang="en-US" sz="1400" dirty="0">
                <a:latin typeface="Arial"/>
                <a:ea typeface="+mn-lt"/>
                <a:cs typeface="Arial"/>
              </a:rPr>
              <a:t>Employee uploads completion </a:t>
            </a:r>
            <a:r>
              <a:rPr lang="en-US" sz="1400">
                <a:latin typeface="Arial"/>
                <a:ea typeface="+mn-lt"/>
                <a:cs typeface="Arial"/>
              </a:rPr>
              <a:t>proofs. SME</a:t>
            </a:r>
            <a:r>
              <a:rPr lang="en-US" sz="1400" dirty="0">
                <a:latin typeface="Arial"/>
                <a:ea typeface="+mn-lt"/>
                <a:cs typeface="Arial"/>
              </a:rPr>
              <a:t> acknowledges mentee progress. Manager updates ratings after SME confirmation.</a:t>
            </a:r>
            <a:endParaRPr lang="en-US" sz="1400">
              <a:latin typeface="Arial"/>
              <a:ea typeface="Calibri" panose="020F0502020204030204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ea typeface="Calibri" panose="020F0502020204030204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27235C"/>
                </a:solidFill>
                <a:latin typeface="Arial"/>
              </a:rPr>
              <a:t>HR Oversight:</a:t>
            </a:r>
            <a:r>
              <a:rPr lang="en-US" sz="1400">
                <a:latin typeface="Arial"/>
                <a:ea typeface="+mn-lt"/>
                <a:cs typeface="Arial"/>
              </a:rPr>
              <a:t>  HR views skill ratings, SME assignments, and SME details for </a:t>
            </a:r>
            <a:endParaRPr lang="en-US" sz="1400">
              <a:latin typeface="Arial"/>
              <a:ea typeface="Calibri"/>
              <a:cs typeface="Arial"/>
            </a:endParaRPr>
          </a:p>
          <a:p>
            <a:r>
              <a:rPr lang="en-US" sz="1400">
                <a:latin typeface="Arial"/>
                <a:ea typeface="+mn-lt"/>
                <a:cs typeface="Arial"/>
              </a:rPr>
              <a:t>      planning development initiatives.</a:t>
            </a:r>
            <a:endParaRPr lang="en-US" sz="1400">
              <a:latin typeface="Arial"/>
              <a:ea typeface="Calibri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"/>
              <a:buChar char="•"/>
            </a:pPr>
            <a:endParaRPr lang="en-US" sz="1400" b="0" u="none" strike="noStrike" dirty="0">
              <a:effectLst/>
              <a:uFillTx/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Meetings and MOM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618480" y="1287360"/>
            <a:ext cx="6573600" cy="254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Meeting Records: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Submit MOM instantly, view/manage shared MOMs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Discussion Scheduling: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Organize one-on-one meetings, view discussion reports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User Controls: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Manager and Employee can modify submitted MOMs, track meeting outcomes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HR Oversight: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View MOMs for compliance and transparency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Feedback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618480" y="1287360"/>
            <a:ext cx="6581520" cy="28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Feedback Submission: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Submit feedback (peer, mentor, anonymous)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Feedback Review: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View/edit/delete feedback, manage HR feedback forms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Manager Insights: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View team feedback, submit review comments for goals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Peer &amp; Mentor Feedback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Enable professionalism-focused peer feedback, manage mentor feedback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Audit &amp; Visibility: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Track feedback history across roles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SLA Management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618480" y="1287360"/>
            <a:ext cx="6680160" cy="232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Escalation Handling: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Submit SLA escalations, escalate to higher authority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Compliance Tracking: 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View SLA details, monitor adherence across teams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Deadline Management: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Reopen SLA forms, auto-close on deadlines, send reminders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1" u="none" strike="noStrike">
                <a:solidFill>
                  <a:srgbClr val="27235C"/>
                </a:solidFill>
                <a:effectLst/>
                <a:uFillTx/>
                <a:latin typeface="Arial"/>
              </a:rPr>
              <a:t>History &amp; Audit:</a:t>
            </a: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Track SLA history across roles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90080" y="435600"/>
            <a:ext cx="684432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3200" b="1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502920" y="1122120"/>
            <a:ext cx="7302960" cy="31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Employee Engagement Platform successfully integrates goal management, performance appraisal, recognition, and internal career opportunities into a single digital ecosystem.</a:t>
            </a:r>
            <a:br>
              <a:rPr sz="14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ensures: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Secure and role-based access for all users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Transparent and auditable workflows for appraisals and rewards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Efficient collaboration between employees, managers, HR, and leadership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Data-driven decisions for career growth and organizational development</a:t>
            </a: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2166120" y="2305800"/>
            <a:ext cx="5270400" cy="31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RIX 2024 Batch -1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46dc780ef0d3eeeb09e68e2ea4407cc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8cf0a0896b18e2e92b5f5187c99a07a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</documentManagement>
</p:properties>
</file>

<file path=customXml/itemProps1.xml><?xml version="1.0" encoding="utf-8"?>
<ds:datastoreItem xmlns:ds="http://schemas.openxmlformats.org/officeDocument/2006/customXml" ds:itemID="{BD0FB6B3-544F-46DF-92A0-2981257D2C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6ad64a-8b6b-48eb-ae60-12a54eda0ca9"/>
    <ds:schemaRef ds:uri="70328ee1-d215-47f2-9f94-e66745c084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6A5688-2826-4166-B1DE-CF4858EC13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393E5A-4EAB-4A89-934F-1BE4C4310649}">
  <ds:schemaRefs>
    <ds:schemaRef ds:uri="http://schemas.microsoft.com/office/2006/metadata/properties"/>
    <ds:schemaRef ds:uri="http://schemas.microsoft.com/office/infopath/2007/PartnerControls"/>
    <ds:schemaRef ds:uri="9f6ad64a-8b6b-48eb-ae60-12a54eda0ca9"/>
    <ds:schemaRef ds:uri="70328ee1-d215-47f2-9f94-e66745c0848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Microsoft Office PowerPoint</Application>
  <PresentationFormat>On-screen Show (16:9)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Relevantz - Internal Slide Template</vt:lpstr>
      <vt:lpstr>Relevantz - Internal Slide Template</vt:lpstr>
      <vt:lpstr>PowerPoint Presentation</vt:lpstr>
      <vt:lpstr>PowerPoint Presentation</vt:lpstr>
      <vt:lpstr>Project Overview</vt:lpstr>
      <vt:lpstr>Project Overview</vt:lpstr>
      <vt:lpstr>Modules Overview</vt:lpstr>
      <vt:lpstr>Roles Overview</vt:lpstr>
      <vt:lpstr>PowerPoint Presentation</vt:lpstr>
      <vt:lpstr>PowerPoint Presentation</vt:lpstr>
      <vt:lpstr>PowerPoint Presentation</vt:lpstr>
      <vt:lpstr>Authentication &amp; User Management </vt:lpstr>
      <vt:lpstr>Project Management</vt:lpstr>
      <vt:lpstr>Goal Management</vt:lpstr>
      <vt:lpstr>Performance Management</vt:lpstr>
      <vt:lpstr>Performance Management</vt:lpstr>
      <vt:lpstr>HR Operations</vt:lpstr>
      <vt:lpstr>Internal Opportunities</vt:lpstr>
      <vt:lpstr>Learning and Development</vt:lpstr>
      <vt:lpstr>Meetings and MOM Management</vt:lpstr>
      <vt:lpstr>Feedback Management</vt:lpstr>
      <vt:lpstr>SLA Management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subject/>
  <dc:creator/>
  <dc:description/>
  <cp:lastModifiedBy/>
  <cp:revision>236</cp:revision>
  <dcterms:modified xsi:type="dcterms:W3CDTF">2026-06-05T04:26:46Z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0x0101006DE37E934965AB40B8C2959C180473A3</vt:lpwstr>
  </property>
  <property fmtid="{D5CDD505-2E9C-101B-9397-08002B2CF9AE}" pid="4" name="MSIP_Label_defa4170-0d19-0005-0004-bc88714345d2_ActionId">
    <vt:lpwstr>c66ad8e2-d129-43bd-a8ec-5b6df568f088</vt:lpwstr>
  </property>
  <property fmtid="{D5CDD505-2E9C-101B-9397-08002B2CF9AE}" pid="5" name="MSIP_Label_defa4170-0d19-0005-0004-bc88714345d2_ContentBits">
    <vt:lpwstr>0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etDate">
    <vt:lpwstr>2024-04-16T09:14:58Z</vt:lpwstr>
  </property>
  <property fmtid="{D5CDD505-2E9C-101B-9397-08002B2CF9AE}" pid="10" name="MSIP_Label_defa4170-0d19-0005-0004-bc88714345d2_SiteId">
    <vt:lpwstr>fe66d7b1-c17e-4ba8-a08d-2e146117dc7e</vt:lpwstr>
  </property>
  <property fmtid="{D5CDD505-2E9C-101B-9397-08002B2CF9AE}" pid="11" name="Notes">
    <vt:i4>24</vt:i4>
  </property>
  <property fmtid="{D5CDD505-2E9C-101B-9397-08002B2CF9AE}" pid="12" name="Order">
    <vt:r8>12300</vt:r8>
  </property>
  <property fmtid="{D5CDD505-2E9C-101B-9397-08002B2CF9AE}" pid="13" name="PresentationFormat">
    <vt:lpwstr>On-screen Show (16:9)</vt:lpwstr>
  </property>
  <property fmtid="{D5CDD505-2E9C-101B-9397-08002B2CF9AE}" pid="14" name="Slides">
    <vt:i4>24</vt:i4>
  </property>
  <property fmtid="{D5CDD505-2E9C-101B-9397-08002B2CF9AE}" pid="15" name="TriggerFlowInfo">
    <vt:lpwstr/>
  </property>
  <property fmtid="{D5CDD505-2E9C-101B-9397-08002B2CF9AE}" pid="16" name="_ExtendedDescription">
    <vt:lpwstr/>
  </property>
  <property fmtid="{D5CDD505-2E9C-101B-9397-08002B2CF9AE}" pid="17" name="MediaServiceImageTags">
    <vt:lpwstr/>
  </property>
</Properties>
</file>